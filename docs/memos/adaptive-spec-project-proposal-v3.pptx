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1B222E"/>
                </a:solidFill>
                <a:latin typeface="微软雅黑"/>
                <a:ea typeface="微软雅黑"/>
              </a:rPr>
              <a:t>昇腾 NPU 自适应投机解码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2200" b="0">
                <a:solidFill>
                  <a:srgbClr val="1F6FEB"/>
                </a:solidFill>
                <a:latin typeface="微软雅黑"/>
                <a:ea typeface="微软雅黑"/>
              </a:rPr>
              <a:t>立项建议书 v3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700" b="0">
                <a:solidFill>
                  <a:srgbClr val="5B6677"/>
                </a:solidFill>
                <a:latin typeface="微软雅黑"/>
                <a:ea typeface="微软雅黑"/>
              </a:rPr>
              <a:t>按验证长度的置信度分配,替代全 batch 统一的固定 K</a:t>
            </a:r>
          </a:p>
          <a:p>
            <a:pPr algn="l">
              <a:spcBef>
                <a:spcPts val="2000"/>
              </a:spcBef>
              <a:spcAft>
                <a:spcPts val="0"/>
              </a:spcAft>
            </a:pPr>
            <a:r>
              <a:rPr sz="1200" b="0">
                <a:solidFill>
                  <a:srgbClr val="5B6677"/>
                </a:solidFill>
                <a:latin typeface="微软雅黑"/>
                <a:ea typeface="微软雅黑"/>
              </a:rPr>
              <a:t>v3 相对 v2 的关键变化:上游 vLLM 已实现该算法(PR #47808,针对 DeepSeek-V4-Flash-DSpark),SGLang 亦已上线。本项目据此由“设计并实现”重定义为“昇腾侧适配与验证”,范围与周期同步收缩。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92608" y="128016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C00000"/>
                </a:solidFill>
                <a:latin typeface="微软雅黑"/>
                <a:ea typeface="微软雅黑"/>
              </a:rPr>
              <a:t>技术点:昇腾 NPU 自适应投机解码 —— 按置信度分配验证预算</a:t>
            </a:r>
          </a:p>
        </p:txBody>
      </p:sp>
      <p:sp>
        <p:nvSpPr>
          <p:cNvPr id="3" name="Rectangle 2"/>
          <p:cNvSpPr/>
          <p:nvPr/>
        </p:nvSpPr>
        <p:spPr>
          <a:xfrm>
            <a:off x="292608" y="640080"/>
            <a:ext cx="384048" cy="896112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挑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战</a:t>
            </a:r>
          </a:p>
        </p:txBody>
      </p:sp>
      <p:sp>
        <p:nvSpPr>
          <p:cNvPr id="4" name="Rectangle 3"/>
          <p:cNvSpPr/>
          <p:nvPr/>
        </p:nvSpPr>
        <p:spPr>
          <a:xfrm>
            <a:off x="676656" y="640080"/>
            <a:ext cx="5138928" cy="8961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50" b="0">
                <a:solidFill>
                  <a:srgbClr val="1B222E"/>
                </a:solidFill>
                <a:latin typeface="微软雅黑"/>
                <a:ea typeface="微软雅黑"/>
              </a:rPr>
              <a:t>· 固定 K 对全 batch 一视同仁 —— 高置信请求本可多验,低置信请求白耗 target 算力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50" b="0">
                <a:solidFill>
                  <a:srgbClr val="C00000"/>
                </a:solidFill>
                <a:latin typeface="微软雅黑"/>
                <a:ea typeface="微软雅黑"/>
              </a:rPr>
              <a:t>★ 变长 K_i 与设备图「形状固定」冲突 —— 若进不了图,即便自适应实现了,性能仍可能不如固定 K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50" b="0">
                <a:solidFill>
                  <a:srgbClr val="5B6677"/>
                </a:solidFill>
                <a:latin typeface="微软雅黑"/>
                <a:ea typeface="微软雅黑"/>
              </a:rPr>
              <a:t>· confidence head 在昇腾侧尚未加载(短期缺项,移植上游改法即可,非难点)</a:t>
            </a:r>
          </a:p>
        </p:txBody>
      </p:sp>
      <p:sp>
        <p:nvSpPr>
          <p:cNvPr id="5" name="Rectangle 4"/>
          <p:cNvSpPr/>
          <p:nvPr/>
        </p:nvSpPr>
        <p:spPr>
          <a:xfrm>
            <a:off x="6053328" y="640080"/>
            <a:ext cx="384048" cy="896112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目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437376" y="640080"/>
            <a:ext cx="5431536" cy="8961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50" b="0">
                <a:solidFill>
                  <a:srgbClr val="1B222E"/>
                </a:solidFill>
                <a:latin typeface="微软雅黑"/>
                <a:ea typeface="微软雅黑"/>
              </a:rPr>
              <a:t>· 对齐上游 vLLM #47808 机制,在昇腾实现按置信度的验证预算分配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50" b="0">
                <a:solidFill>
                  <a:srgbClr val="C00000"/>
                </a:solidFill>
                <a:latin typeface="微软雅黑"/>
                <a:ea typeface="微软雅黑"/>
              </a:rPr>
              <a:t>· 同等验证预算下提升接受长度 —— 上游实测 +7.6%,收益随 target 变贵而放大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50" b="0">
                <a:solidFill>
                  <a:srgbClr val="1B222E"/>
                </a:solidFill>
                <a:latin typeface="微软雅黑"/>
                <a:ea typeface="微软雅黑"/>
              </a:rPr>
              <a:t>· 动态 K 在图模式下端到端不劣于同预算的固定 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2608" y="1700784"/>
            <a:ext cx="2304288" cy="310896"/>
          </a:xfrm>
          <a:prstGeom prst="roundRect">
            <a:avLst/>
          </a:prstGeom>
          <a:solidFill>
            <a:srgbClr val="1F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自适应验证运行闭环</a:t>
            </a:r>
          </a:p>
        </p:txBody>
      </p:sp>
      <p:sp>
        <p:nvSpPr>
          <p:cNvPr id="8" name="Rectangle 7"/>
          <p:cNvSpPr/>
          <p:nvPr/>
        </p:nvSpPr>
        <p:spPr>
          <a:xfrm>
            <a:off x="292608" y="2084831"/>
            <a:ext cx="2304288" cy="310896"/>
          </a:xfrm>
          <a:prstGeom prst="rect">
            <a:avLst/>
          </a:prstGeom>
          <a:solidFill>
            <a:srgbClr val="E9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222E"/>
                </a:solidFill>
                <a:latin typeface="微软雅黑"/>
                <a:ea typeface="微软雅黑"/>
              </a:rPr>
              <a:t>输入:草稿 block + 逐位 confidence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292608" y="2487168"/>
            <a:ext cx="2304288" cy="1755648"/>
          </a:xfrm>
          <a:prstGeom prst="rect">
            <a:avLst/>
          </a:prstGeom>
          <a:noFill/>
          <a:ln w="15875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7472" y="2542032"/>
            <a:ext cx="2194560" cy="2560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5FA8"/>
                </a:solidFill>
                <a:latin typeface="微软雅黑"/>
                <a:ea typeface="微软雅黑"/>
              </a:rPr>
              <a:t>① 置信度调度闭环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" y="2834640"/>
            <a:ext cx="2048256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222E"/>
                </a:solidFill>
                <a:latin typeface="微软雅黑"/>
                <a:ea typeface="微软雅黑"/>
              </a:rPr>
              <a:t>生存概率打分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1399032" y="3136392"/>
            <a:ext cx="91440" cy="73152"/>
          </a:xfrm>
          <a:prstGeom prst="downArrow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0624" y="3218688"/>
            <a:ext cx="2048256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222E"/>
                </a:solidFill>
                <a:latin typeface="微软雅黑"/>
                <a:ea typeface="微软雅黑"/>
              </a:rPr>
              <a:t>全局预算择优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1399032" y="3520440"/>
            <a:ext cx="91440" cy="73152"/>
          </a:xfrm>
          <a:prstGeom prst="downArrow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0624" y="3602736"/>
            <a:ext cx="2048256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222E"/>
                </a:solidFill>
                <a:latin typeface="微软雅黑"/>
                <a:ea typeface="微软雅黑"/>
              </a:rPr>
              <a:t>每请求 K_i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2608" y="4407408"/>
            <a:ext cx="2304288" cy="1755648"/>
          </a:xfrm>
          <a:prstGeom prst="rect">
            <a:avLst/>
          </a:prstGeom>
          <a:noFill/>
          <a:ln w="15875">
            <a:solidFill>
              <a:srgbClr val="D3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7472" y="4462272"/>
            <a:ext cx="2194560" cy="2560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D3620B"/>
                </a:solidFill>
                <a:latin typeface="微软雅黑"/>
                <a:ea typeface="微软雅黑"/>
              </a:rPr>
              <a:t>② 变长图执行闭环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0624" y="4754880"/>
            <a:ext cx="2048256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D3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222E"/>
                </a:solidFill>
                <a:latin typeface="微软雅黑"/>
                <a:ea typeface="微软雅黑"/>
              </a:rPr>
              <a:t>变长 decode 图捕获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1399032" y="5056632"/>
            <a:ext cx="91440" cy="73152"/>
          </a:xfrm>
          <a:prstGeom prst="downArrow">
            <a:avLst/>
          </a:prstGeom>
          <a:solidFill>
            <a:srgbClr val="D362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0624" y="5138928"/>
            <a:ext cx="2048256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D3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222E"/>
                </a:solidFill>
                <a:latin typeface="微软雅黑"/>
                <a:ea typeface="微软雅黑"/>
              </a:rPr>
              <a:t>真机成本曲线标定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1399032" y="5440680"/>
            <a:ext cx="91440" cy="73152"/>
          </a:xfrm>
          <a:prstGeom prst="downArrow">
            <a:avLst/>
          </a:prstGeom>
          <a:solidFill>
            <a:srgbClr val="D362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0624" y="5522976"/>
            <a:ext cx="2048256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D3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222E"/>
                </a:solidFill>
                <a:latin typeface="微软雅黑"/>
                <a:ea typeface="微软雅黑"/>
              </a:rPr>
              <a:t>场景配置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2336" y="5870448"/>
            <a:ext cx="20848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C00000"/>
                </a:solidFill>
                <a:latin typeface="微软雅黑"/>
                <a:ea typeface="微软雅黑"/>
              </a:rPr>
              <a:t>⚠ 变长进不了图 → 退回 eager,失去图重放收益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1399032" y="4279392"/>
            <a:ext cx="91440" cy="91440"/>
          </a:xfrm>
          <a:prstGeom prst="downArrow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92608" y="6272784"/>
            <a:ext cx="2304288" cy="310896"/>
          </a:xfrm>
          <a:prstGeom prst="rect">
            <a:avLst/>
          </a:prstGeom>
          <a:solidFill>
            <a:srgbClr val="E9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B222E"/>
                </a:solidFill>
                <a:latin typeface="微软雅黑"/>
                <a:ea typeface="微软雅黑"/>
              </a:rPr>
              <a:t>可部署:动态 K 投机解码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24912" y="1700784"/>
            <a:ext cx="6784848" cy="2359152"/>
          </a:xfrm>
          <a:prstGeom prst="rect">
            <a:avLst/>
          </a:prstGeom>
          <a:noFill/>
          <a:ln w="19050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34640" y="1773936"/>
            <a:ext cx="3566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5FA8"/>
                </a:solidFill>
                <a:latin typeface="微软雅黑"/>
                <a:ea typeface="微软雅黑"/>
              </a:rPr>
              <a:t>① 置信度调度(算法侧,对标 #47808)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34640" y="2139696"/>
            <a:ext cx="3520440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B222E"/>
                </a:solidFill>
                <a:latin typeface="微软雅黑"/>
                <a:ea typeface="微软雅黑"/>
              </a:rPr>
              <a:t>A. 生存概率打分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900" b="0">
                <a:solidFill>
                  <a:srgbClr val="1B222E"/>
                </a:solidFill>
                <a:latin typeface="微软雅黑"/>
                <a:ea typeface="微软雅黑"/>
              </a:rPr>
              <a:t>每个 (请求, 位置) 的 draft slot 以该请求逐位 confidence 的累积乘积打分。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000" b="1">
                <a:solidFill>
                  <a:srgbClr val="1B222E"/>
                </a:solidFill>
                <a:latin typeface="微软雅黑"/>
                <a:ea typeface="微软雅黑"/>
              </a:rPr>
              <a:t>B. 跨请求竞争的全局预算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900" b="0">
                <a:solidFill>
                  <a:srgbClr val="1B222E"/>
                </a:solidFill>
                <a:latin typeface="微软雅黑"/>
                <a:ea typeface="微软雅黑"/>
              </a:rPr>
              <a:t>所有 slot 统一排序、择优录取直至预算耗尽 —— 自信请求的第 5 位可压过犹豫请求的第 1 位。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000" b="1">
                <a:solidFill>
                  <a:srgbClr val="1B222E"/>
                </a:solidFill>
                <a:latin typeface="微软雅黑"/>
                <a:ea typeface="微软雅黑"/>
              </a:rPr>
              <a:t>C. 成本曲线标定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900" b="0">
                <a:solidFill>
                  <a:srgbClr val="1B222E"/>
                </a:solidFill>
                <a:latin typeface="微软雅黑"/>
                <a:ea typeface="微软雅黑"/>
              </a:rPr>
              <a:t>启动期 dummy step 测出步开销;batch 预算用 CPU 侧陈旧值(不同步),per-request 用 GPU 实时值。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92240" y="2395728"/>
            <a:ext cx="841248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1F5FA8"/>
                </a:solidFill>
                <a:latin typeface="微软雅黑"/>
                <a:ea typeface="微软雅黑"/>
              </a:rPr>
              <a:t>draft slot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逐位置信度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7351775" y="2715768"/>
            <a:ext cx="109728" cy="128016"/>
          </a:xfrm>
          <a:prstGeom prst="rightArrow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79792" y="2395728"/>
            <a:ext cx="841248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1F5FA8"/>
                </a:solidFill>
                <a:latin typeface="微软雅黑"/>
                <a:ea typeface="微软雅黑"/>
              </a:rPr>
              <a:t>排序 / 打分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累积乘积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8339327" y="2715768"/>
            <a:ext cx="109728" cy="128016"/>
          </a:xfrm>
          <a:prstGeom prst="rightArrow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467344" y="2395728"/>
            <a:ext cx="841248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1F5FA8"/>
                </a:solidFill>
                <a:latin typeface="微软雅黑"/>
                <a:ea typeface="微软雅黑"/>
              </a:rPr>
              <a:t>录取前缀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预算内择优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3291840"/>
            <a:ext cx="28895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B6677"/>
                </a:solidFill>
                <a:latin typeface="微软雅黑"/>
                <a:ea typeface="微软雅黑"/>
              </a:rPr>
              <a:t>机制示意:同预算下把验证 token 挪给最可能被接受的位置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834640" y="3675887"/>
            <a:ext cx="6565392" cy="274320"/>
          </a:xfrm>
          <a:prstGeom prst="rect">
            <a:avLst/>
          </a:prstGeom>
          <a:solidFill>
            <a:srgbClr val="E9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5FA8"/>
                </a:solidFill>
                <a:latin typeface="微软雅黑"/>
                <a:ea typeface="微软雅黑"/>
              </a:rPr>
              <a:t>交付:昇腾预算调度 kernel  |  成本曲线标定脚本  |  置信度-接受率相关性报告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24912" y="4206240"/>
            <a:ext cx="6784848" cy="2487168"/>
          </a:xfrm>
          <a:prstGeom prst="rect">
            <a:avLst/>
          </a:prstGeom>
          <a:noFill/>
          <a:ln w="19050">
            <a:solidFill>
              <a:srgbClr val="D3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834640" y="4279392"/>
            <a:ext cx="3840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D3620B"/>
                </a:solidFill>
                <a:latin typeface="微软雅黑"/>
                <a:ea typeface="微软雅黑"/>
              </a:rPr>
              <a:t>② 变长 decode 图(工程侧,★ 主要投入)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871216" y="4663440"/>
            <a:ext cx="987552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3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D3620B"/>
                </a:solidFill>
                <a:latin typeface="微软雅黑"/>
                <a:ea typeface="微软雅黑"/>
              </a:rPr>
              <a:t>固定形状捕获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现状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3877056" y="4965192"/>
            <a:ext cx="109728" cy="128016"/>
          </a:xfrm>
          <a:prstGeom prst="rightArrow">
            <a:avLst/>
          </a:prstGeom>
          <a:solidFill>
            <a:srgbClr val="D362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005072" y="4663440"/>
            <a:ext cx="987552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3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D3620B"/>
                </a:solidFill>
                <a:latin typeface="微软雅黑"/>
                <a:ea typeface="微软雅黑"/>
              </a:rPr>
              <a:t>变长图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按 token 网格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5010912" y="4965192"/>
            <a:ext cx="109728" cy="128016"/>
          </a:xfrm>
          <a:prstGeom prst="rightArrow">
            <a:avLst/>
          </a:prstGeom>
          <a:solidFill>
            <a:srgbClr val="D362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138928" y="4663440"/>
            <a:ext cx="987552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3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D3620B"/>
                </a:solidFill>
                <a:latin typeface="微软雅黑"/>
                <a:ea typeface="微软雅黑"/>
              </a:rPr>
              <a:t>真机测量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开销 / padding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71216" y="5449824"/>
            <a:ext cx="341985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222E"/>
                </a:solidFill>
                <a:latin typeface="微软雅黑"/>
                <a:ea typeface="微软雅黑"/>
              </a:rPr>
              <a:t>让变长进图有两条路线,阶段 2 先验证可行性:</a:t>
            </a:r>
          </a:p>
          <a:p>
            <a:pPr algn="l">
              <a:spcBef>
                <a:spcPts val="150"/>
              </a:spcBef>
              <a:spcAft>
                <a:spcPts val="0"/>
              </a:spcAft>
            </a:pPr>
            <a:r>
              <a:rPr sz="700" b="0">
                <a:solidFill>
                  <a:srgbClr val="1B222E"/>
                </a:solidFill>
                <a:latin typeface="微软雅黑"/>
                <a:ea typeface="微软雅黑"/>
              </a:rPr>
              <a:t>· 对齐上游 —— 图按 token 总数分档捕获,运行时用批内最长请求的长度挑图、其余补齐;图数 = 档数 × 长度取值数,有补齐浪费;</a:t>
            </a:r>
          </a:p>
          <a:p>
            <a:pPr algn="l">
              <a:spcBef>
                <a:spcPts val="150"/>
              </a:spcBef>
              <a:spcAft>
                <a:spcPts val="0"/>
              </a:spcAft>
            </a:pPr>
            <a:r>
              <a:rPr sz="700" b="0">
                <a:solidFill>
                  <a:srgbClr val="1B222E"/>
                </a:solidFill>
                <a:latin typeface="微软雅黑"/>
                <a:ea typeface="微软雅黑"/>
              </a:rPr>
              <a:t>· SGLang 式 —— 各请求 token 紧挨着打包成一条,图只按总 token 数分档;图少且无补齐浪费,代价是改数据布局 + 算子须支持。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0" y="4517136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222E"/>
                </a:solidFill>
                <a:latin typeface="微软雅黑"/>
                <a:ea typeface="微软雅黑"/>
              </a:rPr>
              <a:t>· 固定 K 每步形状一致 → 能入图;自适应下每请求 K_i 每步不同 → 形状参差且逐步变化 → 默认出图;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800" b="0">
                <a:solidFill>
                  <a:srgbClr val="1B222E"/>
                </a:solidFill>
                <a:latin typeface="微软雅黑"/>
                <a:ea typeface="微软雅黑"/>
              </a:rPr>
              <a:t>· 能否留在图内,取决于图里的长度参数是「录制时固化的常量」还是「运行时可改的设备张量」: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800" b="0">
                <a:solidFill>
                  <a:srgbClr val="1B222E"/>
                </a:solidFill>
                <a:latin typeface="微软雅黑"/>
                <a:ea typeface="微软雅黑"/>
              </a:rPr>
              <a:t>  通用路径 FIA v2(npu_fused_infer_attention_score_v2)—— 长度是 host 侧 list,录制即固化 → K 一变必须整图重录;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800" b="0">
                <a:solidFill>
                  <a:srgbClr val="1B222E"/>
                </a:solidFill>
                <a:latin typeface="微软雅黑"/>
                <a:ea typeface="微软雅黑"/>
              </a:rPr>
              <a:t>  ★ DSV4 路径 DSA / SFA —— 长度是 device tensor,图里存的是指针 → 改内容即可,结构上无需重录(有利条件);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800" b="0">
                <a:solidFill>
                  <a:srgbClr val="C00000"/>
                </a:solidFill>
                <a:latin typeface="微软雅黑"/>
                <a:ea typeface="微软雅黑"/>
              </a:rPr>
              <a:t>· ★ 真正的未知量:workspace(算子临时显存)按 token 数做缓存键,K 一变即未命中、重新分配 → 图与 workspace 数量随 K 组合膨胀,显存与捕获耗时随之上升。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834640" y="6327648"/>
            <a:ext cx="6565392" cy="274320"/>
          </a:xfrm>
          <a:prstGeom prst="rect">
            <a:avLst/>
          </a:prstGeom>
          <a:solidFill>
            <a:srgbClr val="FD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D3620B"/>
                </a:solidFill>
                <a:latin typeface="微软雅黑"/>
                <a:ea typeface="微软雅黑"/>
              </a:rPr>
              <a:t>交付:变长 decode 图实现  |  Shape 配置  |  三模式(无投机 / 固定 K / 动态 K)对比实测包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637776" y="1700784"/>
            <a:ext cx="2231136" cy="310896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里 程 碑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838944" y="2212848"/>
            <a:ext cx="25603" cy="41605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720072" y="2249424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00000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58400" y="2194560"/>
            <a:ext cx="177393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00000"/>
                </a:solidFill>
                <a:latin typeface="微软雅黑"/>
                <a:ea typeface="微软雅黑"/>
              </a:rPr>
              <a:t>T+1 天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000" b="1">
                <a:solidFill>
                  <a:srgbClr val="1B222E"/>
                </a:solidFill>
                <a:latin typeface="微软雅黑"/>
                <a:ea typeface="微软雅黑"/>
              </a:rPr>
              <a:t>G1 · 判定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把加速比从 c=48 补测到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c=128 / c=256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看固定 K 是否收益衰减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不达标即停,不进入开发</a:t>
            </a:r>
          </a:p>
        </p:txBody>
      </p:sp>
      <p:sp>
        <p:nvSpPr>
          <p:cNvPr id="50" name="Oval 49"/>
          <p:cNvSpPr/>
          <p:nvPr/>
        </p:nvSpPr>
        <p:spPr>
          <a:xfrm>
            <a:off x="9720072" y="3310128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00000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400" y="3255264"/>
            <a:ext cx="177393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00000"/>
                </a:solidFill>
                <a:latin typeface="微软雅黑"/>
                <a:ea typeface="微软雅黑"/>
              </a:rPr>
              <a:t>T+3 周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000" b="1">
                <a:solidFill>
                  <a:srgbClr val="1B222E"/>
                </a:solidFill>
                <a:latin typeface="微软雅黑"/>
                <a:ea typeface="微软雅黑"/>
              </a:rPr>
              <a:t>G2 · 打通信号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vllm-ascend 加载置信度头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端到端读出逐位置信度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与实测接受率做相关性验证</a:t>
            </a:r>
          </a:p>
        </p:txBody>
      </p:sp>
      <p:sp>
        <p:nvSpPr>
          <p:cNvPr id="52" name="Oval 51"/>
          <p:cNvSpPr/>
          <p:nvPr/>
        </p:nvSpPr>
        <p:spPr>
          <a:xfrm>
            <a:off x="9720072" y="4370831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00000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58400" y="4315968"/>
            <a:ext cx="177393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00000"/>
                </a:solidFill>
                <a:latin typeface="微软雅黑"/>
                <a:ea typeface="微软雅黑"/>
              </a:rPr>
              <a:t>T+11 周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000" b="1">
                <a:solidFill>
                  <a:srgbClr val="1B222E"/>
                </a:solidFill>
                <a:latin typeface="微软雅黑"/>
                <a:ea typeface="微软雅黑"/>
              </a:rPr>
              <a:t>G3 · 图模式 ★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动态 K 在图模式下运行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端到端不劣于同预算固定 K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本项目主要技术风险所在</a:t>
            </a:r>
          </a:p>
        </p:txBody>
      </p:sp>
      <p:sp>
        <p:nvSpPr>
          <p:cNvPr id="54" name="Oval 53"/>
          <p:cNvSpPr/>
          <p:nvPr/>
        </p:nvSpPr>
        <p:spPr>
          <a:xfrm>
            <a:off x="9720072" y="5431536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00000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58400" y="5376672"/>
            <a:ext cx="177393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00000"/>
                </a:solidFill>
                <a:latin typeface="微软雅黑"/>
                <a:ea typeface="微软雅黑"/>
              </a:rPr>
              <a:t>T+15 周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000" b="1">
                <a:solidFill>
                  <a:srgbClr val="1B222E"/>
                </a:solidFill>
                <a:latin typeface="微软雅黑"/>
                <a:ea typeface="微软雅黑"/>
              </a:rPr>
              <a:t>合入与扩展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推广到通用模型路径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补齐限制项 + 复现文档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37776" y="6455664"/>
            <a:ext cx="22311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5B6677"/>
                </a:solidFill>
                <a:latin typeface="微软雅黑"/>
                <a:ea typeface="微软雅黑"/>
              </a:rPr>
              <a:t>T = 立项批准日;绝对日期待排期确定后填入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B222E"/>
                </a:solidFill>
                <a:latin typeface="微软雅黑"/>
                <a:ea typeface="微软雅黑"/>
              </a:rPr>
              <a:t>一、为什么立项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5B6677"/>
                </a:solidFill>
                <a:latin typeface="微软雅黑"/>
                <a:ea typeface="微软雅黑"/>
              </a:rPr>
              <a:t>固定 K 对所有请求一视同仁,而“该验多长”的信号其实已经有了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88720" cy="24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81328"/>
          <a:ext cx="11247118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2240"/>
                <a:gridCol w="2811780"/>
                <a:gridCol w="3711549"/>
                <a:gridCol w="3711549"/>
              </a:tblGrid>
              <a:tr h="65836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/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现状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问题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本项目要解决的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算法侧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全 batch 统一验证长度 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高置信请求本可多验,低置信请求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白白消耗 target 计算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按 confidence head 的逐位接受概率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给每请求分配 K_i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工程侧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固定 K 已入图,收益稳定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K_i 每轮变化 → ragged batch,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与设备图“形状固定”天然冲突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变长与图共存,且开销可控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生态侧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GPU 侧上游已实现并在合入中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NPU 侧空白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上游方案绑定 NVIDIA 后端能力,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昇腾无对应机制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昇腾侧首个可用实现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3977639"/>
            <a:ext cx="11247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微软雅黑"/>
                <a:ea typeface="微软雅黑"/>
              </a:rPr>
              <a:t>核心依据:同等验证预算下,接受长度提升 7.6%(上游实测)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350" b="0">
                <a:solidFill>
                  <a:srgbClr val="1B222E"/>
                </a:solidFill>
                <a:latin typeface="微软雅黑"/>
                <a:ea typeface="微软雅黑"/>
              </a:rPr>
              <a:t>· vLLM PR #48692 在 Qwen3-8B + DSpark 上测得:固定 K=5 接受长度 3.445;自适应(上限 K=7、每请求有效 K=5,即同等预算)3.707 —— 同样的算力,多接受 7.6% 的 token。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350" b="0">
                <a:solidFill>
                  <a:srgbClr val="1B222E"/>
                </a:solidFill>
                <a:latin typeface="微软雅黑"/>
                <a:ea typeface="微软雅黑"/>
              </a:rPr>
              <a:t>· 该 PR 作者同时说明:8B 模型上“测不出显著加速”,因为 verify 本来就便宜。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350" b="1">
                <a:solidFill>
                  <a:srgbClr val="1B222E"/>
                </a:solidFill>
                <a:latin typeface="微软雅黑"/>
                <a:ea typeface="微软雅黑"/>
              </a:rPr>
              <a:t>  ⟹ 收益随 target 变贵而放大。target 越大、verify 越贵,少验一个 token 省下的越多 —— 大 MoE(DSV4-Flash 284B/13B 激活)正是收益最大的场景,也正是我们已有完整链路的场景。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250" b="0">
                <a:solidFill>
                  <a:srgbClr val="5B6677"/>
                </a:solidFill>
                <a:latin typeface="微软雅黑"/>
                <a:ea typeface="微软雅黑"/>
              </a:rPr>
              <a:t>· 边界情形(非主因,但值得记录):并发继续升高时固定 K 会由正收益转为负收益。上游在 c=256 实测固定 7-token 比不开投机还慢 33%,自适应可保住收益。此时自适应从“更好”变为“必需”。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B222E"/>
                </a:solidFill>
                <a:latin typeface="微软雅黑"/>
                <a:ea typeface="微软雅黑"/>
              </a:rPr>
              <a:t>二、上游已经做到哪一步 —— 我们不再需要设计算法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5B6677"/>
                </a:solidFill>
                <a:latin typeface="微软雅黑"/>
                <a:ea typeface="微软雅黑"/>
              </a:rPr>
              <a:t>两个 PR 是同一条线的两代;算法、调度、图支持均已成型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88720" cy="24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81328"/>
          <a:ext cx="11247118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2240"/>
                <a:gridCol w="4723790"/>
                <a:gridCol w="5511088"/>
              </a:tblGrid>
              <a:tr h="56692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/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vLLM #48692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vLLM #47808(当前主线)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状态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2026-08-05 关闭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作者:改推 #47808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OPEN,标签 ready / mrv2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mergeable,仅待审批;8-09 仍在更新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规模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28 文件 +1240/-110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40 文件 +1507/-111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范围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变长投机的基础设施: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图兼容、结构化输出、logprobs、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混合 prefill/decode 批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在此之上加入按置信度的预算调度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(本项目对标的完整形态)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验证模型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Qwen3-8B-FP8 + DSpark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DeepSeek-V4-Flash-DSpark,TP=4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160520"/>
            <a:ext cx="112471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B222E"/>
                </a:solidFill>
                <a:latin typeface="微软雅黑"/>
                <a:ea typeface="微软雅黑"/>
              </a:rPr>
              <a:t>#47808 的机制(昇腾侧需要对齐的就是这些)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300" b="0">
                <a:solidFill>
                  <a:srgbClr val="1B222E"/>
                </a:solidFill>
                <a:latin typeface="微软雅黑"/>
                <a:ea typeface="微软雅黑"/>
              </a:rPr>
              <a:t>· 打分:Triton kernel 按“生存概率”(逐位 confidence 的累积乘积)对所有请求的 draft slot 统一排序,跨请求竞争 —— 自信请求的第 5 位可以压过犹豫请求的第 1 位,择优录取直到全局预算用尽;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1B222E"/>
                </a:solidFill>
                <a:latin typeface="微软雅黑"/>
                <a:ea typeface="微软雅黑"/>
              </a:rPr>
              <a:t>· 成本:启动时用 dummy step profile 出成本曲线;batch 级预算在 CPU 上用双缓冲的陈旧 confidence 计算(不引入同步),per-request 分配在 GPU 上用实时值;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1B222E"/>
                </a:solidFill>
                <a:latin typeface="微软雅黑"/>
                <a:ea typeface="微软雅黑"/>
              </a:rPr>
              <a:t>· 图:decode cudagraph 改为变长 —— 按 token 网格捕获、以 max_query_len 派发、每个捕获槽非空;要求后端上报 AttentionCGSupport.ALWAYS(PR 中把两个 MLA 后端由 UNIFORM_BATCH 升级为 ALWAYS);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1B222E"/>
                </a:solidFill>
                <a:latin typeface="微软雅黑"/>
                <a:ea typeface="微软雅黑"/>
              </a:rPr>
              <a:t>· 限制:仅支持带 confidence head 的 DSpark;不支持 LoRA / 流水并行 / 输出 logprobs。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250" b="0">
                <a:solidFill>
                  <a:srgbClr val="5B6677"/>
                </a:solidFill>
                <a:latin typeface="微软雅黑"/>
                <a:ea typeface="微软雅黑"/>
              </a:rPr>
              <a:t>另有第二份参考实现:SGLang 的 DSpark 集成(2026-07-06)采用 packed ragged varlen、graph key 仅按总 token 数,padding 浪费更小 —— 可作为图侧的备选设计。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B222E"/>
                </a:solidFill>
                <a:latin typeface="微软雅黑"/>
                <a:ea typeface="微软雅黑"/>
              </a:rPr>
              <a:t>三、昇腾侧的三个真实缺口 —— 这才是本项目的工作量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5B6677"/>
                </a:solidFill>
                <a:latin typeface="微软雅黑"/>
                <a:ea typeface="微软雅黑"/>
              </a:rPr>
              <a:t>均已在源码层面核实,不是推测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88720" cy="24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81328"/>
          <a:ext cx="11247118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9884"/>
                <a:gridCol w="2249424"/>
                <a:gridCol w="4723790"/>
                <a:gridCol w="3824020"/>
              </a:tblGrid>
              <a:tr h="96012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#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缺口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证据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工作量判断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</a:tr>
              <a:tr h="96012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1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confidence head 在昇腾侧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尚未加载(短期缺项)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vllm-ascend 的 deepseek_v4_draft.py 中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_remap_dspark_name 对 confidence_head.*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直接 return None;上游 main 原本同样如此,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#47808 正是解除它的那个 PR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小 —— 非难点。上游改动仅为解除一行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丢弃逻辑 + 一个线性头。草稿侧我们已就位: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训练已产出该头,且已按上游区分 bias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2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没有支持变长 decode 图的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昇腾注意力后端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上游依赖 AttentionCGSupport.ALWAYS;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昇腾图模式当前按固定形状捕获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★ 大 —— 本项目的主要技术风险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与主要投入所在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3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预算调度 kernel 无昇腾实现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上游为 Triton kernel;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成本曲线依赖设备侧 profile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中 —— 算法确定,需重写并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在昇腾上重新标定成本曲线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507492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677"/>
                </a:solidFill>
                <a:latin typeface="微软雅黑"/>
                <a:ea typeface="微软雅黑"/>
              </a:rPr>
              <a:t>我们的既有条件:DSV4-Flash DSpark 草稿已训练完成(5 epoch,接受长度达已发布草稿的 99.5%),训练→转换→部署→评测全链路可复现,并已具备无投机基线用于加速比测量。confidence head 训练时输入是 detach 的,可在冻结骨干上分钟级重新拟合。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B222E"/>
                </a:solidFill>
                <a:latin typeface="微软雅黑"/>
                <a:ea typeface="微软雅黑"/>
              </a:rPr>
              <a:t>三(补充 1)、为什么「变长」会掉出设备图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5B6677"/>
                </a:solidFill>
                <a:latin typeface="微软雅黑"/>
                <a:ea typeface="微软雅黑"/>
              </a:rPr>
              <a:t>先讲清楚机制,再落到算子 —— 这是本项目最大技术风险的来源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88720" cy="24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26464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B222E"/>
                </a:solidFill>
                <a:latin typeface="微软雅黑"/>
                <a:ea typeface="微软雅黑"/>
              </a:rPr>
              <a:t>设备图(昇腾 ACL Graph,对应 GPU 侧的 CUDA Graph)是把一串算子按【固定的张量形状与地址】预先录制下来,推理时直接重放整段,省掉逐算子下发的开销。解码是「算子小、次数多」的场景,这部分开销占比很高,所以能否入图直接决定性能。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微软雅黑"/>
                <a:ea typeface="微软雅黑"/>
              </a:rPr>
              <a:t>而录制的前提,是每一步的形状都一样。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2468880"/>
            <a:ext cx="5504688" cy="2615184"/>
          </a:xfrm>
          <a:prstGeom prst="rect">
            <a:avLst/>
          </a:prstGeom>
          <a:noFill/>
          <a:ln w="19050">
            <a:solidFill>
              <a:srgbClr val="0E7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0936" y="2542032"/>
            <a:ext cx="524865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7A4B"/>
                </a:solidFill>
                <a:latin typeface="微软雅黑"/>
                <a:ea typeface="微软雅黑"/>
              </a:rPr>
              <a:t>固定 K = 5   →   形状固定,可入图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" y="2907792"/>
            <a:ext cx="7680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B6677"/>
                </a:solidFill>
                <a:latin typeface="微软雅黑"/>
                <a:ea typeface="微软雅黑"/>
              </a:rPr>
              <a:t>请求 1</a:t>
            </a:r>
          </a:p>
        </p:txBody>
      </p:sp>
      <p:sp>
        <p:nvSpPr>
          <p:cNvPr id="8" name="Rectangle 7"/>
          <p:cNvSpPr/>
          <p:nvPr/>
        </p:nvSpPr>
        <p:spPr>
          <a:xfrm>
            <a:off x="1435608" y="2944368"/>
            <a:ext cx="237744" cy="201168"/>
          </a:xfrm>
          <a:prstGeom prst="rect">
            <a:avLst/>
          </a:prstGeom>
          <a:solidFill>
            <a:srgbClr val="0E7A4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728216" y="2944368"/>
            <a:ext cx="237744" cy="201168"/>
          </a:xfrm>
          <a:prstGeom prst="rect">
            <a:avLst/>
          </a:prstGeom>
          <a:solidFill>
            <a:srgbClr val="0E7A4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20824" y="2944368"/>
            <a:ext cx="237744" cy="201168"/>
          </a:xfrm>
          <a:prstGeom prst="rect">
            <a:avLst/>
          </a:prstGeom>
          <a:solidFill>
            <a:srgbClr val="0E7A4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313432" y="2944368"/>
            <a:ext cx="237744" cy="201168"/>
          </a:xfrm>
          <a:prstGeom prst="rect">
            <a:avLst/>
          </a:prstGeom>
          <a:solidFill>
            <a:srgbClr val="0E7A4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06040" y="2944368"/>
            <a:ext cx="237744" cy="201168"/>
          </a:xfrm>
          <a:prstGeom prst="rect">
            <a:avLst/>
          </a:prstGeom>
          <a:solidFill>
            <a:srgbClr val="0E7A4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93592" y="2907792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E7A4B"/>
                </a:solidFill>
                <a:latin typeface="微软雅黑"/>
                <a:ea typeface="微软雅黑"/>
              </a:rPr>
              <a:t>K=5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" y="3255264"/>
            <a:ext cx="7680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B6677"/>
                </a:solidFill>
                <a:latin typeface="微软雅黑"/>
                <a:ea typeface="微软雅黑"/>
              </a:rPr>
              <a:t>请求 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35608" y="3291840"/>
            <a:ext cx="237744" cy="201168"/>
          </a:xfrm>
          <a:prstGeom prst="rect">
            <a:avLst/>
          </a:prstGeom>
          <a:solidFill>
            <a:srgbClr val="0E7A4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28216" y="3291840"/>
            <a:ext cx="237744" cy="201168"/>
          </a:xfrm>
          <a:prstGeom prst="rect">
            <a:avLst/>
          </a:prstGeom>
          <a:solidFill>
            <a:srgbClr val="0E7A4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020824" y="3291840"/>
            <a:ext cx="237744" cy="201168"/>
          </a:xfrm>
          <a:prstGeom prst="rect">
            <a:avLst/>
          </a:prstGeom>
          <a:solidFill>
            <a:srgbClr val="0E7A4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313432" y="3291840"/>
            <a:ext cx="237744" cy="201168"/>
          </a:xfrm>
          <a:prstGeom prst="rect">
            <a:avLst/>
          </a:prstGeom>
          <a:solidFill>
            <a:srgbClr val="0E7A4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606040" y="3291840"/>
            <a:ext cx="237744" cy="201168"/>
          </a:xfrm>
          <a:prstGeom prst="rect">
            <a:avLst/>
          </a:prstGeom>
          <a:solidFill>
            <a:srgbClr val="0E7A4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93592" y="3255264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E7A4B"/>
                </a:solidFill>
                <a:latin typeface="微软雅黑"/>
                <a:ea typeface="微软雅黑"/>
              </a:rPr>
              <a:t>K=5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602736"/>
            <a:ext cx="7680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B6677"/>
                </a:solidFill>
                <a:latin typeface="微软雅黑"/>
                <a:ea typeface="微软雅黑"/>
              </a:rPr>
              <a:t>请求 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435608" y="3639312"/>
            <a:ext cx="237744" cy="201168"/>
          </a:xfrm>
          <a:prstGeom prst="rect">
            <a:avLst/>
          </a:prstGeom>
          <a:solidFill>
            <a:srgbClr val="0E7A4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728216" y="3639312"/>
            <a:ext cx="237744" cy="201168"/>
          </a:xfrm>
          <a:prstGeom prst="rect">
            <a:avLst/>
          </a:prstGeom>
          <a:solidFill>
            <a:srgbClr val="0E7A4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020824" y="3639312"/>
            <a:ext cx="237744" cy="201168"/>
          </a:xfrm>
          <a:prstGeom prst="rect">
            <a:avLst/>
          </a:prstGeom>
          <a:solidFill>
            <a:srgbClr val="0E7A4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313432" y="3639312"/>
            <a:ext cx="237744" cy="201168"/>
          </a:xfrm>
          <a:prstGeom prst="rect">
            <a:avLst/>
          </a:prstGeom>
          <a:solidFill>
            <a:srgbClr val="0E7A4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606040" y="3639312"/>
            <a:ext cx="237744" cy="201168"/>
          </a:xfrm>
          <a:prstGeom prst="rect">
            <a:avLst/>
          </a:prstGeom>
          <a:solidFill>
            <a:srgbClr val="0E7A4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93592" y="3602736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E7A4B"/>
                </a:solidFill>
                <a:latin typeface="微软雅黑"/>
                <a:ea typeface="微软雅黑"/>
              </a:rPr>
              <a:t>K=5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" y="3950208"/>
            <a:ext cx="7680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B6677"/>
                </a:solidFill>
                <a:latin typeface="微软雅黑"/>
                <a:ea typeface="微软雅黑"/>
              </a:rPr>
              <a:t>请求 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435608" y="3986784"/>
            <a:ext cx="237744" cy="201168"/>
          </a:xfrm>
          <a:prstGeom prst="rect">
            <a:avLst/>
          </a:prstGeom>
          <a:solidFill>
            <a:srgbClr val="0E7A4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728216" y="3986784"/>
            <a:ext cx="237744" cy="201168"/>
          </a:xfrm>
          <a:prstGeom prst="rect">
            <a:avLst/>
          </a:prstGeom>
          <a:solidFill>
            <a:srgbClr val="0E7A4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020824" y="3986784"/>
            <a:ext cx="237744" cy="201168"/>
          </a:xfrm>
          <a:prstGeom prst="rect">
            <a:avLst/>
          </a:prstGeom>
          <a:solidFill>
            <a:srgbClr val="0E7A4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313432" y="3986784"/>
            <a:ext cx="237744" cy="201168"/>
          </a:xfrm>
          <a:prstGeom prst="rect">
            <a:avLst/>
          </a:prstGeom>
          <a:solidFill>
            <a:srgbClr val="0E7A4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606040" y="3986784"/>
            <a:ext cx="237744" cy="201168"/>
          </a:xfrm>
          <a:prstGeom prst="rect">
            <a:avLst/>
          </a:prstGeom>
          <a:solidFill>
            <a:srgbClr val="0E7A4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93592" y="3950208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E7A4B"/>
                </a:solidFill>
                <a:latin typeface="微软雅黑"/>
                <a:ea typeface="微软雅黑"/>
              </a:rPr>
              <a:t>K=5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" y="4370832"/>
            <a:ext cx="51937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222E"/>
                </a:solidFill>
                <a:latin typeface="微软雅黑"/>
                <a:ea typeface="微软雅黑"/>
              </a:rPr>
              <a:t>每个请求每步都验证 5 个 token。batch 内 query 长度一致、总 token 数每步相同,录制一次即可一直重放。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0936" y="4718304"/>
            <a:ext cx="5248655" cy="274320"/>
          </a:xfrm>
          <a:prstGeom prst="rect">
            <a:avLst/>
          </a:prstGeom>
          <a:solidFill>
            <a:srgbClr val="E9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E7A4B"/>
                </a:solidFill>
                <a:latin typeface="微软雅黑"/>
                <a:ea typeface="微软雅黑"/>
              </a:rPr>
              <a:t>总 token 数 = 4 × 5 = 20,每一步都是这个数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81344" y="2468880"/>
            <a:ext cx="5504688" cy="2615184"/>
          </a:xfrm>
          <a:prstGeom prst="rect">
            <a:avLst/>
          </a:prstGeom>
          <a:noFill/>
          <a:ln w="19050">
            <a:solidFill>
              <a:srgbClr val="A31D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59" y="2542032"/>
            <a:ext cx="524865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A31D2A"/>
                </a:solidFill>
                <a:latin typeface="微软雅黑"/>
                <a:ea typeface="微软雅黑"/>
              </a:rPr>
              <a:t>自适应 K_i   →   形状逐步变化,默认出图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59" y="2907792"/>
            <a:ext cx="7680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B6677"/>
                </a:solidFill>
                <a:latin typeface="微软雅黑"/>
                <a:ea typeface="微软雅黑"/>
              </a:rPr>
              <a:t>请求 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14031" y="2944368"/>
            <a:ext cx="237744" cy="201168"/>
          </a:xfrm>
          <a:prstGeom prst="rect">
            <a:avLst/>
          </a:prstGeom>
          <a:solidFill>
            <a:srgbClr val="A31D2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406640" y="2944368"/>
            <a:ext cx="237744" cy="201168"/>
          </a:xfrm>
          <a:prstGeom prst="rect">
            <a:avLst/>
          </a:prstGeom>
          <a:solidFill>
            <a:srgbClr val="A31D2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699248" y="2944368"/>
            <a:ext cx="237744" cy="201168"/>
          </a:xfrm>
          <a:prstGeom prst="rect">
            <a:avLst/>
          </a:prstGeom>
          <a:solidFill>
            <a:srgbClr val="A31D2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991855" y="2944368"/>
            <a:ext cx="237744" cy="201168"/>
          </a:xfrm>
          <a:prstGeom prst="rect">
            <a:avLst/>
          </a:prstGeom>
          <a:solidFill>
            <a:srgbClr val="A31D2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284463" y="2944368"/>
            <a:ext cx="237744" cy="201168"/>
          </a:xfrm>
          <a:prstGeom prst="rect">
            <a:avLst/>
          </a:prstGeom>
          <a:solidFill>
            <a:srgbClr val="A31D2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72015" y="2907792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31D2A"/>
                </a:solidFill>
                <a:latin typeface="微软雅黑"/>
                <a:ea typeface="微软雅黑"/>
              </a:rPr>
              <a:t>K=5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09359" y="3255264"/>
            <a:ext cx="7680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B6677"/>
                </a:solidFill>
                <a:latin typeface="微软雅黑"/>
                <a:ea typeface="微软雅黑"/>
              </a:rPr>
              <a:t>请求 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114031" y="3291840"/>
            <a:ext cx="237744" cy="201168"/>
          </a:xfrm>
          <a:prstGeom prst="rect">
            <a:avLst/>
          </a:prstGeom>
          <a:solidFill>
            <a:srgbClr val="A31D2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406640" y="3291840"/>
            <a:ext cx="237744" cy="201168"/>
          </a:xfrm>
          <a:prstGeom prst="rect">
            <a:avLst/>
          </a:prstGeom>
          <a:solidFill>
            <a:srgbClr val="A31D2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272015" y="3255264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31D2A"/>
                </a:solidFill>
                <a:latin typeface="微软雅黑"/>
                <a:ea typeface="微软雅黑"/>
              </a:rPr>
              <a:t>K=2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59" y="3602736"/>
            <a:ext cx="7680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B6677"/>
                </a:solidFill>
                <a:latin typeface="微软雅黑"/>
                <a:ea typeface="微软雅黑"/>
              </a:rPr>
              <a:t>请求 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114031" y="3639312"/>
            <a:ext cx="237744" cy="201168"/>
          </a:xfrm>
          <a:prstGeom prst="rect">
            <a:avLst/>
          </a:prstGeom>
          <a:solidFill>
            <a:srgbClr val="A31D2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06640" y="3639312"/>
            <a:ext cx="237744" cy="201168"/>
          </a:xfrm>
          <a:prstGeom prst="rect">
            <a:avLst/>
          </a:prstGeom>
          <a:solidFill>
            <a:srgbClr val="A31D2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699248" y="3639312"/>
            <a:ext cx="237744" cy="201168"/>
          </a:xfrm>
          <a:prstGeom prst="rect">
            <a:avLst/>
          </a:prstGeom>
          <a:solidFill>
            <a:srgbClr val="A31D2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991855" y="3639312"/>
            <a:ext cx="237744" cy="201168"/>
          </a:xfrm>
          <a:prstGeom prst="rect">
            <a:avLst/>
          </a:prstGeom>
          <a:solidFill>
            <a:srgbClr val="A31D2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284463" y="3639312"/>
            <a:ext cx="237744" cy="201168"/>
          </a:xfrm>
          <a:prstGeom prst="rect">
            <a:avLst/>
          </a:prstGeom>
          <a:solidFill>
            <a:srgbClr val="A31D2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577072" y="3639312"/>
            <a:ext cx="237744" cy="201168"/>
          </a:xfrm>
          <a:prstGeom prst="rect">
            <a:avLst/>
          </a:prstGeom>
          <a:solidFill>
            <a:srgbClr val="A31D2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869680" y="3639312"/>
            <a:ext cx="237744" cy="201168"/>
          </a:xfrm>
          <a:prstGeom prst="rect">
            <a:avLst/>
          </a:prstGeom>
          <a:solidFill>
            <a:srgbClr val="A31D2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272015" y="3602736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31D2A"/>
                </a:solidFill>
                <a:latin typeface="微软雅黑"/>
                <a:ea typeface="微软雅黑"/>
              </a:rPr>
              <a:t>K=7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59" y="3950208"/>
            <a:ext cx="7680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B6677"/>
                </a:solidFill>
                <a:latin typeface="微软雅黑"/>
                <a:ea typeface="微软雅黑"/>
              </a:rPr>
              <a:t>请求 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114031" y="3986784"/>
            <a:ext cx="237744" cy="201168"/>
          </a:xfrm>
          <a:prstGeom prst="rect">
            <a:avLst/>
          </a:prstGeom>
          <a:solidFill>
            <a:srgbClr val="A31D2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272015" y="3950208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31D2A"/>
                </a:solidFill>
                <a:latin typeface="微软雅黑"/>
                <a:ea typeface="微软雅黑"/>
              </a:rPr>
              <a:t>K=1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27648" y="4370832"/>
            <a:ext cx="51937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222E"/>
                </a:solidFill>
                <a:latin typeface="微软雅黑"/>
                <a:ea typeface="微软雅黑"/>
              </a:rPr>
              <a:t>每个请求按自身置信度拿到不同的 K_i,下一步又是另一组。query 长度参差(ragged)、总 token 数每步都在变。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309359" y="4718304"/>
            <a:ext cx="5248655" cy="274320"/>
          </a:xfrm>
          <a:prstGeom prst="rect">
            <a:avLst/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A31D2A"/>
                </a:solidFill>
                <a:latin typeface="微软雅黑"/>
                <a:ea typeface="微软雅黑"/>
              </a:rPr>
              <a:t>总 token 数 = 5+2+7+1 = 15,下一步又是别的数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02920" y="5248656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F6FEB"/>
                </a:solidFill>
                <a:latin typeface="微软雅黑"/>
                <a:ea typeface="微软雅黑"/>
              </a:rPr>
              <a:t>⟹ 于是问题归结为一件很具体的事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350" b="0">
                <a:solidFill>
                  <a:srgbClr val="1B222E"/>
                </a:solidFill>
                <a:latin typeface="微软雅黑"/>
                <a:ea typeface="微软雅黑"/>
              </a:rPr>
              <a:t>图里那些【依赖序列长度】的参数,是在录制时就被固化成了常量,还是留成了运行时可以改内容的设备张量?前者一变就必须整张图重录,后者只改张量内容即可。答案因算子而异 —— 下一页逐个部件核对。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B222E"/>
                </a:solidFill>
                <a:latin typeface="微软雅黑"/>
                <a:ea typeface="微软雅黑"/>
              </a:rPr>
              <a:t>三(补充 2)、落到算子:逐个部件核对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5B6677"/>
                </a:solidFill>
                <a:latin typeface="微软雅黑"/>
                <a:ea typeface="微软雅黑"/>
              </a:rPr>
              <a:t>四条结论均出自 vllm-ascend 现网代码,标注文件与行号,可自行核对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88720" cy="24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26464"/>
          <a:ext cx="11247119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4712"/>
                <a:gridCol w="1687068"/>
                <a:gridCol w="4386376"/>
                <a:gridCol w="4048963"/>
              </a:tblGrid>
              <a:tr h="73152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路径 / 部件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机制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代码出处(vllm-ascend)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对变长 K 的影响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通用路径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FIA v2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序列长度是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host 侧 Python list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attention_v1.py:183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  actual_seq_lengths_q: list[int]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attention_v1.py:314  由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  query_start_loc_cpu[1:].tolist() 构造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值在捕获时被烘进图 —— K 一变图里的长度就是错的,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必须为每个形状重新捕获。这就是「任意形状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不可入图」的机械原因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★ DSV4 路径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DSA / SFA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序列长度是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device tensor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device_op.py:559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  actual_seq_lengths_query: torch.Tensor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dsa_v1.py:1061  传入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  query_start_loc[1:].clone()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图捕获的是指针不是值 —— 改张量内容即可,结构上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不需要重捕。★ 我们主攻的路径恰好在更有利的一侧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workspace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按 token 数做缓存键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attention_v1.py:490/636/812/953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  workspaces.get(num_tokens)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attention_v1.py:774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  num_tokens = actual_seq_lengths_q[-1]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K 变 → num_tokens 变 → 缓存未命中、重新分配;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不同 K 组合一多,图与 workspace 数量一起膨胀。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★ 真正的成本在这里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图内元数据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更新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机制已存在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(固定 K 已在用)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attention_v1.py:530-565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  graph_task_update_begin/end 块内已有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  _EXTRA_CTX.is_draft_model 与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  attn_metadata[draft_step][key]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固定 K 投机已经在图里跑,逐 draft step 更新图内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元数据的机制与开销已经付过 —— 自适应不是从零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造图内变长,而是让这套机制吃变化的长度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5138928"/>
            <a:ext cx="11247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B6677"/>
                </a:solidFill>
                <a:latin typeface="微软雅黑"/>
                <a:ea typeface="微软雅黑"/>
              </a:rPr>
              <a:t>术语:FIA v2 = npu_fused_infer_attention_score_v2,昇腾融合注意力算子,通用模型走这条路径;DSA = DeepSeek Sparse Attention,SFA = 稀疏融合注意力,DeepSeek-V4-Flash 走这条;workspace = 算子运行所需的临时显存。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504688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F6FEB"/>
                </a:solidFill>
                <a:latin typeface="微软雅黑"/>
                <a:ea typeface="微软雅黑"/>
              </a:rPr>
              <a:t>⟹ 准确的风险表述不是「昇腾不能变长入图」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300" b="0">
                <a:solidFill>
                  <a:srgbClr val="1B222E"/>
                </a:solidFill>
                <a:latin typeface="微软雅黑"/>
                <a:ea typeface="微软雅黑"/>
              </a:rPr>
              <a:t>而是:DSA 路径在设备侧持有长度、图内元数据更新机制已存在,两项结构性条件都已具备;未知量集中在 workspace 与图数量随 K 组合的膨胀,以及随之而来的显存占用与捕获耗时。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1">
                <a:solidFill>
                  <a:srgbClr val="1B222E"/>
                </a:solidFill>
                <a:latin typeface="微软雅黑"/>
                <a:ea typeface="微软雅黑"/>
              </a:rPr>
              <a:t>这把阶段 2 的第一件事定死了:先量形状数量与 workspace 膨胀,再在两条路线里选 —— 「对齐上游」按 token 总数分档捕获、运行时用批内最长请求的长度挑图并补齐(上游称后端上报 ALWAYS、按 max_query_len 派发);「SGLang 式」把各请求 token 紧挨着打包,图只按总 token 数分档,图少且无补齐浪费,但要改数据布局。先量再选,而不是先写实现。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B222E"/>
                </a:solidFill>
                <a:latin typeface="微软雅黑"/>
                <a:ea typeface="微软雅黑"/>
              </a:rPr>
              <a:t>四、实施方案与里程碑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5B6677"/>
                </a:solidFill>
                <a:latin typeface="微软雅黑"/>
                <a:ea typeface="微软雅黑"/>
              </a:rPr>
              <a:t>阶段 0 由“两周量化”缩为“一天判定”—— 上游数据已给出大部分答案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88720" cy="24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81328"/>
          <a:ext cx="11247118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7298"/>
                <a:gridCol w="899769"/>
                <a:gridCol w="5286146"/>
                <a:gridCol w="4273905"/>
              </a:tblGrid>
              <a:tr h="786384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阶段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周期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主要工作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交付物 / 决策门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0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判定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1 天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在昇腾现有固定 K 链路上,把加速比从 c=48 补测到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c=128 / c=256,看是否出现上游那样的收益衰减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一张并发-加速比曲线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G1:是否值得继续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1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打通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2–3 周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vllm-ascend 加载 confidence head(移植上游改法);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草稿侧供给并校验 confidence 数值合理性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端到端可读出逐位置信度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G2:置信度与实际接受率相关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2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图支持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6–8 周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★ 变长 decode 图:对齐 ALWAYS 语义或采用 SGLang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的 packed varlen;预算 kernel 昇腾实现 + 成本曲线标定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动态 K 在图模式下可运行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G3:相对固定 K 不劣化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3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扩展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3–4 周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推广到通用模型路径;补齐限制项;文档与复现脚本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可合入的实现 + 对比数据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548640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F6FEB"/>
                </a:solidFill>
                <a:latin typeface="微软雅黑"/>
                <a:ea typeface="微软雅黑"/>
              </a:rPr>
              <a:t>总周期约 2.5–3.5 个月(v2 为 3–4 个月;算法设计部分由上游承担后收缩)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300" b="0">
                <a:solidFill>
                  <a:srgbClr val="1B222E"/>
                </a:solidFill>
                <a:latin typeface="微软雅黑"/>
                <a:ea typeface="微软雅黑"/>
              </a:rPr>
              <a:t>阶段 0 只要一天:我们已有无投机基线和固定 K 的完整评测链路,只需把并发点补齐。主要不确定性已从“收益幅度”转移到“昇腾图模式能否支持变长”—— 前者上游已用数据回答,后者是阶段 2 的核心。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B222E"/>
                </a:solidFill>
                <a:latin typeface="微软雅黑"/>
                <a:ea typeface="微软雅黑"/>
              </a:rPr>
              <a:t>五、风险与依赖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5B6677"/>
                </a:solidFill>
                <a:latin typeface="微软雅黑"/>
                <a:ea typeface="微软雅黑"/>
              </a:rPr>
              <a:t>按“是否阻断”排序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88720" cy="24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81328"/>
          <a:ext cx="11247119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49193"/>
                <a:gridCol w="3374136"/>
                <a:gridCol w="4723790"/>
              </a:tblGrid>
              <a:tr h="86868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风险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影响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应对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★ 昇腾无法支持变长 decode 图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(唯一的阻断性风险)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阻断阶段 2,项目退化为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“仅 eager 模式可用”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阶段 2 先做可行性验证再投入;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备选:SGLang 式 packed varlen,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graph key 只按总 token 数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昇腾侧收益幅度不及 GPU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项目价值下降,但不归零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(同预算接受长度提升仍在)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阶段 0 一天内给出判定;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G1 不达标即停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上游 #47808 设计仍在演进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移植目标变动,返工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跟随主线而非分叉;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关闭的 #48692 已说明会向 #47808 收敛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confidence head 质量不足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调度信号噪声大,收益打折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输入为 detach,可在冻结骨干上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分钟级重训,代价极低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B222E"/>
                </a:solidFill>
                <a:latin typeface="微软雅黑"/>
                <a:ea typeface="微软雅黑"/>
              </a:rPr>
              <a:t>六、决策门与验收标准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5B6677"/>
                </a:solidFill>
                <a:latin typeface="微软雅黑"/>
                <a:ea typeface="微软雅黑"/>
              </a:rPr>
              <a:t>每个门都是可量化的,不靠主观判断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88720" cy="24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81328"/>
          <a:ext cx="11247119" cy="35844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"/>
                <a:gridCol w="1237183"/>
                <a:gridCol w="5173675"/>
                <a:gridCol w="4273905"/>
              </a:tblGrid>
              <a:tr h="896112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门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时点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通过标准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不通过怎么办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</a:tr>
              <a:tr h="896112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G1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第 1 天末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在某个并发点上,固定 K 的加速比相对 c=48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出现明显衰减(或已低于无投机)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停止立项。结论本身有价值: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说明昇腾当前运行点无需自适应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896112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G2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第 3 周末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端到端读出逐位置信度,且与实测逐位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接受率单调相关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回到草稿侧重新拟合 confidence head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(代价分钟级),不影响主线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896112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G3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第 11 周末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动态 K 在图模式下运行,端到端不劣于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同预算的固定 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保留 eager 路径成果并如实上报;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将图支持作为独立议题提交上游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75488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B222E"/>
                </a:solidFill>
                <a:latin typeface="微软雅黑"/>
                <a:ea typeface="微软雅黑"/>
              </a:rPr>
              <a:t>最终验收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350" b="0">
                <a:solidFill>
                  <a:srgbClr val="1B222E"/>
                </a:solidFill>
                <a:latin typeface="微软雅黑"/>
                <a:ea typeface="微软雅黑"/>
              </a:rPr>
              <a:t>· 昇腾侧可用实现,与固定 K、无投机三者的对比数据齐备,复现文档可被他人独立执行;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350" b="0">
                <a:solidFill>
                  <a:srgbClr val="1B222E"/>
                </a:solidFill>
                <a:latin typeface="微软雅黑"/>
                <a:ea typeface="微软雅黑"/>
              </a:rPr>
              <a:t>· DSV4-Flash 在动态 K 下取得不劣于固定 K 的端到端表现,并在高并发点显示优势;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350" b="0">
                <a:solidFill>
                  <a:srgbClr val="1B222E"/>
                </a:solidFill>
                <a:latin typeface="微软雅黑"/>
                <a:ea typeface="微软雅黑"/>
              </a:rPr>
              <a:t>· 通用模型路线给出明确结论:可行方案,或阻断原因与所需外部支持。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600" b="1">
                <a:solidFill>
                  <a:srgbClr val="1F6FEB"/>
                </a:solidFill>
                <a:latin typeface="微软雅黑"/>
                <a:ea typeface="微软雅黑"/>
              </a:rPr>
              <a:t>建议:先做阶段 0。一天即可拿到 G1 数据,再决定是否投入后续 2.5–3.5 个月。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